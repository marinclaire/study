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38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194560"/>
            <a:ext cx="1097280" cy="54864"/>
          </a:xfrm>
          <a:prstGeom prst="rect">
            <a:avLst/>
          </a:prstGeom>
          <a:solidFill>
            <a:srgbClr val="3B8B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VS画像システム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B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AIチャット機能拡張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BF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システム構成概要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4A7A"/>
          </a:solidFill>
          <a:ln w="19050">
            <a:solidFill>
              <a:srgbClr val="3B8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70332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AIチャット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416052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F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設定支援・NG原因分析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361188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4A7A"/>
          </a:solidFill>
          <a:ln w="19050">
            <a:solidFill>
              <a:srgbClr val="3B8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370332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ハイブリッド構成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0168" y="416052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F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 × ローカル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61188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E4A7A"/>
          </a:solidFill>
          <a:ln w="19050">
            <a:solidFill>
              <a:srgbClr val="3B8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370332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Azure対応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1968" y="416052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F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Foundry / AI Search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システム構成図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30352"/>
            <a:ext cx="8778240" cy="1417320"/>
          </a:xfrm>
          <a:prstGeom prst="roundRect">
            <a:avLst>
              <a:gd name="adj" fmla="val 6452"/>
            </a:avLst>
          </a:prstGeom>
          <a:solidFill>
            <a:srgbClr val="EAF3FA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85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クラウド層（Azure）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0" y="54864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D6E8FA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90688" y="54864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85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実装例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C8DFF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503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AIエージェント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0607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5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APIキー切替で変更可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84048" y="126187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E8E8E4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26187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61872" y="126187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E8E8E4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26187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OpenAI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" y="1499616"/>
            <a:ext cx="1682496" cy="201168"/>
          </a:xfrm>
          <a:prstGeom prst="roundRect">
            <a:avLst>
              <a:gd name="adj" fmla="val 18182"/>
            </a:avLst>
          </a:prstGeom>
          <a:solidFill>
            <a:srgbClr val="E8E8E4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499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その他LLM（将来追加可）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51760" y="82296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D4EEE5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8412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RAGシステム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1014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AI Search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651760" y="1298448"/>
            <a:ext cx="1115568" cy="347472"/>
          </a:xfrm>
          <a:prstGeom prst="roundRect">
            <a:avLst>
              <a:gd name="adj" fmla="val 15789"/>
            </a:avLst>
          </a:prstGeom>
          <a:solidFill>
            <a:srgbClr val="D4EEE5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4912" y="131673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ベクトルDB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24912" y="1481328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Search Index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840480" y="1298448"/>
            <a:ext cx="1115568" cy="347472"/>
          </a:xfrm>
          <a:prstGeom prst="roundRect">
            <a:avLst>
              <a:gd name="adj" fmla="val 15789"/>
            </a:avLst>
          </a:prstGeom>
          <a:solidFill>
            <a:srgbClr val="D4EEE5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131673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ドキュメントDB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13632" y="1481328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Blob Storage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514600" y="1033272"/>
            <a:ext cx="137160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  <a:headEnd type="arrow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3767328" y="1472184"/>
            <a:ext cx="73152" cy="0"/>
          </a:xfrm>
          <a:prstGeom prst="line">
            <a:avLst/>
          </a:prstGeom>
          <a:noFill/>
          <a:ln w="10160">
            <a:solidFill>
              <a:srgbClr val="085041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320040" y="19751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4AB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↕ 通常：テキスト通信　／　必要時：代表画像（少数）をAIエージェントへ送信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2221992"/>
            <a:ext cx="6309360" cy="2596896"/>
          </a:xfrm>
          <a:prstGeom prst="roundRect">
            <a:avLst>
              <a:gd name="adj" fmla="val 3521"/>
            </a:avLst>
          </a:prstGeom>
          <a:solidFill>
            <a:srgbClr val="FFF8EE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249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A75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ローカル層（ユーザーPC）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505456"/>
            <a:ext cx="6035040" cy="320040"/>
          </a:xfrm>
          <a:prstGeom prst="roundRect">
            <a:avLst>
              <a:gd name="adj" fmla="val 17143"/>
            </a:avLst>
          </a:prstGeom>
          <a:solidFill>
            <a:srgbClr val="EDE8FC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5328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4AB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AIチャットUI（デスクトップアプリ  Electron / WPF等）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0" y="25328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34AB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ユーザー操作 ・ MCPサーバーと直接通信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2889504"/>
            <a:ext cx="6035040" cy="685800"/>
          </a:xfrm>
          <a:prstGeom prst="roundRect">
            <a:avLst>
              <a:gd name="adj" fmla="val 8000"/>
            </a:avLst>
          </a:prstGeom>
          <a:solidFill>
            <a:srgbClr val="FAF0DC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9077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9F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MCPサーバー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" y="3127248"/>
            <a:ext cx="1536192" cy="384048"/>
          </a:xfrm>
          <a:prstGeom prst="roundRect">
            <a:avLst>
              <a:gd name="adj" fmla="val 11905"/>
            </a:avLst>
          </a:prstGeom>
          <a:solidFill>
            <a:srgbClr val="E8E8E4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14553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設定取得/変更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" y="331012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8887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ツール→SDK呼び出し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2011680" y="3127248"/>
            <a:ext cx="1536192" cy="384048"/>
          </a:xfrm>
          <a:prstGeom prst="roundRect">
            <a:avLst>
              <a:gd name="adj" fmla="val 11905"/>
            </a:avLst>
          </a:prstGeom>
          <a:solidFill>
            <a:srgbClr val="E8E8E4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84832" y="314553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結果取得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084832" y="331012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8887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ツール→SDK呼び出し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657600" y="3127248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0752" y="314553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93C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NG原因分析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730752" y="331012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85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ツール→分析エンジン呼び出し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20040" y="3621024"/>
            <a:ext cx="6035040" cy="969264"/>
          </a:xfrm>
          <a:prstGeom prst="roundRect">
            <a:avLst>
              <a:gd name="adj" fmla="val 5660"/>
            </a:avLst>
          </a:prstGeom>
          <a:solidFill>
            <a:srgbClr val="FFF0EC"/>
          </a:solidFill>
          <a:ln w="12700">
            <a:solidFill>
              <a:srgbClr val="993C1D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11480" y="363931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3C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ローカル分析エンジン（大量画像処理はここで完結）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84048" y="3840480"/>
            <a:ext cx="1536192" cy="658368"/>
          </a:xfrm>
          <a:prstGeom prst="roundRect">
            <a:avLst>
              <a:gd name="adj" fmla="val 6944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85876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93C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①画像取得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40416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85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SDKでNG画像読込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418795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85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（大量・ローカルのみ）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2011680" y="3840480"/>
            <a:ext cx="1536192" cy="658368"/>
          </a:xfrm>
          <a:prstGeom prst="roundRect">
            <a:avLst>
              <a:gd name="adj" fmla="val 6944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84832" y="385876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93C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②統計・分類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084832" y="40416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85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NG率推移・パターン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2084832" y="418795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85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分類・異常箇所検出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3657600" y="384048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30752" y="38587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93C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③サマリー生成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30752" y="404164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85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構造化テキスト＋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3730752" y="418795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85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代表画像を選定・添付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1920240" y="4169664"/>
            <a:ext cx="91440" cy="0"/>
          </a:xfrm>
          <a:prstGeom prst="line">
            <a:avLst/>
          </a:prstGeom>
          <a:noFill/>
          <a:ln w="12700">
            <a:solidFill>
              <a:srgbClr val="993C1D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3547872" y="4169664"/>
            <a:ext cx="109728" cy="0"/>
          </a:xfrm>
          <a:prstGeom prst="line">
            <a:avLst/>
          </a:prstGeom>
          <a:noFill/>
          <a:ln w="12700">
            <a:solidFill>
              <a:srgbClr val="993C1D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182880" y="4846320"/>
            <a:ext cx="6309360" cy="201168"/>
          </a:xfrm>
          <a:prstGeom prst="roundRect">
            <a:avLst>
              <a:gd name="adj" fmla="val 27273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85546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93C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SDKレイヤー　VS SDK（C#）　設定 / 結果 / 画像 / 状態 API ― Vision APIクライアント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629400" y="530352"/>
            <a:ext cx="2286000" cy="4517136"/>
          </a:xfrm>
          <a:prstGeom prst="roundRect">
            <a:avLst>
              <a:gd name="adj" fmla="val 4000"/>
            </a:avLst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20840" y="5486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B6D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VSシステム本体（組み込み）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20840" y="82296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C6E0A8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93992" y="85039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99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Vision API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720840" y="1188720"/>
            <a:ext cx="2103120" cy="420624"/>
          </a:xfrm>
          <a:prstGeom prst="roundRect">
            <a:avLst>
              <a:gd name="adj" fmla="val 10870"/>
            </a:avLst>
          </a:prstGeom>
          <a:solidFill>
            <a:srgbClr val="C6E0A8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93992" y="121615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99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検査エンジン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793992" y="138988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B6D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リアルタイム画像処理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6720840" y="1700784"/>
            <a:ext cx="2103120" cy="420624"/>
          </a:xfrm>
          <a:prstGeom prst="roundRect">
            <a:avLst>
              <a:gd name="adj" fmla="val 10870"/>
            </a:avLst>
          </a:prstGeom>
          <a:solidFill>
            <a:srgbClr val="C6E0A8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93992" y="17282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99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画像DB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793992" y="190195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B6D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OK/NG画像蓄積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720840" y="2212848"/>
            <a:ext cx="2103120" cy="420624"/>
          </a:xfrm>
          <a:prstGeom prst="roundRect">
            <a:avLst>
              <a:gd name="adj" fmla="val 10870"/>
            </a:avLst>
          </a:prstGeom>
          <a:solidFill>
            <a:srgbClr val="C6E0A8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93992" y="224028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99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結果データDB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793992" y="241401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B6D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検査結果・スコア履歴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6720840" y="2724912"/>
            <a:ext cx="2103120" cy="256032"/>
          </a:xfrm>
          <a:prstGeom prst="roundRect">
            <a:avLst>
              <a:gd name="adj" fmla="val 14286"/>
            </a:avLst>
          </a:prstGeom>
          <a:solidFill>
            <a:srgbClr val="E0EDD0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93992" y="27432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6D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カメラ・照明・センサー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720840" y="3090672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F1EFE8"/>
          </a:solidFill>
          <a:ln w="10160">
            <a:solidFill>
              <a:srgbClr val="888780"/>
            </a:solidFill>
            <a:prstDash val="dash"/>
          </a:ln>
        </p:spPr>
      </p:sp>
      <p:sp>
        <p:nvSpPr>
          <p:cNvPr id="79" name="Text 77"/>
          <p:cNvSpPr/>
          <p:nvPr/>
        </p:nvSpPr>
        <p:spPr>
          <a:xfrm>
            <a:off x="6793992" y="310896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既存ソフトウェア（参考）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793992" y="3337560"/>
            <a:ext cx="1920240" cy="329184"/>
          </a:xfrm>
          <a:prstGeom prst="roundRect">
            <a:avLst>
              <a:gd name="adj" fmla="val 11111"/>
            </a:avLst>
          </a:prstGeom>
          <a:solidFill>
            <a:srgbClr val="E8E8E4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58000" y="336499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ユーザーアプリ（SDK利用）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793992" y="3739896"/>
            <a:ext cx="1920240" cy="329184"/>
          </a:xfrm>
          <a:prstGeom prst="roundRect">
            <a:avLst>
              <a:gd name="adj" fmla="val 11111"/>
            </a:avLst>
          </a:prstGeom>
          <a:solidFill>
            <a:srgbClr val="E8E8E4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58000" y="37673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Creator（Vision API）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6793992" y="4142232"/>
            <a:ext cx="1920240" cy="329184"/>
          </a:xfrm>
          <a:prstGeom prst="roundRect">
            <a:avLst>
              <a:gd name="adj" fmla="val 11111"/>
            </a:avLst>
          </a:prstGeom>
          <a:solidFill>
            <a:srgbClr val="E8E8E4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58000" y="41696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カスタムスクリーン（Web）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463040" y="1975104"/>
            <a:ext cx="0" cy="530352"/>
          </a:xfrm>
          <a:prstGeom prst="line">
            <a:avLst/>
          </a:prstGeom>
          <a:noFill/>
          <a:ln w="15240">
            <a:solidFill>
              <a:srgbClr val="534AB7"/>
            </a:solidFill>
            <a:prstDash val="solid"/>
            <a:tailEnd type="arrow"/>
          </a:ln>
        </p:spPr>
      </p:sp>
      <p:sp>
        <p:nvSpPr>
          <p:cNvPr id="87" name="Shape 85"/>
          <p:cNvSpPr/>
          <p:nvPr/>
        </p:nvSpPr>
        <p:spPr>
          <a:xfrm>
            <a:off x="1737360" y="2505456"/>
            <a:ext cx="0" cy="0"/>
          </a:xfrm>
          <a:prstGeom prst="line">
            <a:avLst/>
          </a:prstGeom>
          <a:noFill/>
          <a:ln w="15240">
            <a:solidFill>
              <a:srgbClr val="534AB7"/>
            </a:solidFill>
            <a:prstDash val="solid"/>
            <a:tailEnd type="arrow"/>
          </a:ln>
        </p:spPr>
      </p:sp>
      <p:sp>
        <p:nvSpPr>
          <p:cNvPr id="88" name="Shape 86"/>
          <p:cNvSpPr/>
          <p:nvPr/>
        </p:nvSpPr>
        <p:spPr>
          <a:xfrm>
            <a:off x="2286000" y="2825496"/>
            <a:ext cx="0" cy="64008"/>
          </a:xfrm>
          <a:prstGeom prst="line">
            <a:avLst/>
          </a:prstGeom>
          <a:noFill/>
          <a:ln w="15240">
            <a:solidFill>
              <a:srgbClr val="BA7517"/>
            </a:solidFill>
            <a:prstDash val="solid"/>
            <a:tailEnd type="arrow"/>
          </a:ln>
        </p:spPr>
      </p:sp>
      <p:sp>
        <p:nvSpPr>
          <p:cNvPr id="89" name="Shape 87"/>
          <p:cNvSpPr/>
          <p:nvPr/>
        </p:nvSpPr>
        <p:spPr>
          <a:xfrm>
            <a:off x="4572000" y="3511296"/>
            <a:ext cx="0" cy="109728"/>
          </a:xfrm>
          <a:prstGeom prst="line">
            <a:avLst/>
          </a:prstGeom>
          <a:noFill/>
          <a:ln w="15240">
            <a:solidFill>
              <a:srgbClr val="993C1D"/>
            </a:solidFill>
            <a:prstDash val="solid"/>
            <a:tailEnd type="arrow"/>
          </a:ln>
        </p:spPr>
      </p:sp>
      <p:sp>
        <p:nvSpPr>
          <p:cNvPr id="90" name="Shape 88"/>
          <p:cNvSpPr/>
          <p:nvPr/>
        </p:nvSpPr>
        <p:spPr>
          <a:xfrm>
            <a:off x="1828800" y="4773168"/>
            <a:ext cx="0" cy="73152"/>
          </a:xfrm>
          <a:prstGeom prst="line">
            <a:avLst/>
          </a:prstGeom>
          <a:noFill/>
          <a:ln w="15240">
            <a:solidFill>
              <a:srgbClr val="993C1D"/>
            </a:solidFill>
            <a:prstDash val="solid"/>
            <a:tailEnd type="arrow"/>
          </a:ln>
        </p:spPr>
      </p:sp>
      <p:sp>
        <p:nvSpPr>
          <p:cNvPr id="91" name="Shape 89"/>
          <p:cNvSpPr/>
          <p:nvPr/>
        </p:nvSpPr>
        <p:spPr>
          <a:xfrm>
            <a:off x="6537960" y="4864608"/>
            <a:ext cx="91440" cy="0"/>
          </a:xfrm>
          <a:prstGeom prst="line">
            <a:avLst/>
          </a:prstGeom>
          <a:noFill/>
          <a:ln w="15240">
            <a:solidFill>
              <a:srgbClr val="3B6D11"/>
            </a:solidFill>
            <a:prstDash val="solid"/>
            <a:tailEnd type="arrow"/>
          </a:ln>
        </p:spPr>
      </p:sp>
      <p:sp>
        <p:nvSpPr>
          <p:cNvPr id="92" name="Shape 90"/>
          <p:cNvSpPr/>
          <p:nvPr/>
        </p:nvSpPr>
        <p:spPr>
          <a:xfrm>
            <a:off x="7772400" y="1115568"/>
            <a:ext cx="0" cy="73152"/>
          </a:xfrm>
          <a:prstGeom prst="line">
            <a:avLst/>
          </a:prstGeom>
          <a:noFill/>
          <a:ln w="10160">
            <a:solidFill>
              <a:srgbClr val="3B6D11"/>
            </a:solidFill>
            <a:prstDash val="solid"/>
            <a:tailEnd type="arrow"/>
          </a:ln>
        </p:spPr>
      </p:sp>
      <p:sp>
        <p:nvSpPr>
          <p:cNvPr id="93" name="Shape 91"/>
          <p:cNvSpPr/>
          <p:nvPr/>
        </p:nvSpPr>
        <p:spPr>
          <a:xfrm>
            <a:off x="7772400" y="1609344"/>
            <a:ext cx="0" cy="91440"/>
          </a:xfrm>
          <a:prstGeom prst="line">
            <a:avLst/>
          </a:prstGeom>
          <a:noFill/>
          <a:ln w="10160">
            <a:solidFill>
              <a:srgbClr val="3B6D11"/>
            </a:solidFill>
            <a:prstDash val="solid"/>
            <a:tailEnd type="arrow"/>
          </a:ln>
        </p:spPr>
      </p:sp>
      <p:sp>
        <p:nvSpPr>
          <p:cNvPr id="94" name="Shape 92"/>
          <p:cNvSpPr/>
          <p:nvPr/>
        </p:nvSpPr>
        <p:spPr>
          <a:xfrm>
            <a:off x="7772400" y="2121408"/>
            <a:ext cx="0" cy="91440"/>
          </a:xfrm>
          <a:prstGeom prst="line">
            <a:avLst/>
          </a:prstGeom>
          <a:noFill/>
          <a:ln w="10160">
            <a:solidFill>
              <a:srgbClr val="3B6D11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各層の役割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1325880" cy="1005840"/>
          </a:xfrm>
          <a:prstGeom prst="roundRect">
            <a:avLst>
              <a:gd name="adj" fmla="val 5455"/>
            </a:avLst>
          </a:prstGeom>
          <a:solidFill>
            <a:srgbClr val="C8DFF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612648"/>
            <a:ext cx="1289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クラウド層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（Azure）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00200" y="566928"/>
            <a:ext cx="7315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621792"/>
            <a:ext cx="7132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AIエージェント（Claude / OpenAI等）がユーザーの意図を解釈し原因推論・提案を行う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RAGにはAzure AI Search、ドキュメント保管にAzure Blob Storageを使用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LLMはAPIキー切り替えで変更可能な設計（将来対応も容易）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664208"/>
            <a:ext cx="1325880" cy="1207008"/>
          </a:xfrm>
          <a:prstGeom prst="roundRect">
            <a:avLst>
              <a:gd name="adj" fmla="val 4545"/>
            </a:avLst>
          </a:prstGeom>
          <a:solidFill>
            <a:srgbClr val="FAF0DC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709928"/>
            <a:ext cx="128930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A75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ローカル層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A75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（ユーザーPC）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00200" y="1664208"/>
            <a:ext cx="73152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719072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デスクトップアプリ（AIチャットUI）がクラウドAIとローカルMCPを仲介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MCPサーバーが設定取得/変更・結果取得・NG原因分析の3ツールを提供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ローカル分析エンジンが大量NG画像を処理し構造化サマリー＋代表画像を生成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画像データはクラウドに送信しない（テキストサマリーと代表画像のみ転送）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962656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3008376"/>
            <a:ext cx="1289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93C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SDKレイヤー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993C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（ユーザーPC）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00200" y="2962656"/>
            <a:ext cx="7315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01752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SDK（C#）がVision APIクライアントとして機能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設定・結果・画像・状態のAPIをVSシステム本体に橋渡し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877056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D4EEE5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3922776"/>
            <a:ext cx="1289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99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VSシステム本体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399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（組み込み）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00200" y="3877056"/>
            <a:ext cx="7315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93192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Vision APIが外部との唯一の通信窓口（検査エンジン・画像DB・結果データDBを内包）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Creator・カスタムスクリーンも同じVision APIで接続（既存システムへの変更不要）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設計上のポイント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4206240" cy="2029968"/>
          </a:xfrm>
          <a:prstGeom prst="roundRect">
            <a:avLst>
              <a:gd name="adj" fmla="val 4505"/>
            </a:avLst>
          </a:prstGeom>
          <a:solidFill>
            <a:srgbClr val="1E3D6B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685800"/>
            <a:ext cx="3986784" cy="384048"/>
          </a:xfrm>
          <a:prstGeom prst="roundRect">
            <a:avLst>
              <a:gd name="adj" fmla="val 11905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685800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143000"/>
            <a:ext cx="3877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大量画像はローカル処理で完結。クラウドへはテキストサマリーと代表画像のみ送信。MCPサーバーはインターネット公開せず、アウトバウンド通信のみ。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594360"/>
            <a:ext cx="4206240" cy="2029968"/>
          </a:xfrm>
          <a:prstGeom prst="roundRect">
            <a:avLst>
              <a:gd name="adj" fmla="val 4505"/>
            </a:avLst>
          </a:prstGeom>
          <a:solidFill>
            <a:srgbClr val="0D4030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18888" y="685800"/>
            <a:ext cx="3986784" cy="384048"/>
          </a:xfrm>
          <a:prstGeom prst="roundRect">
            <a:avLst>
              <a:gd name="adj" fmla="val 1190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685800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LLM切り替え対応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143000"/>
            <a:ext cx="3877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AIエージェントはClaude・OpenAI等をAPIキー切り替えで変更可能な設計とし、将来のLLM変更やコスト最適化にも対応。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770632"/>
            <a:ext cx="4206240" cy="2029968"/>
          </a:xfrm>
          <a:prstGeom prst="roundRect">
            <a:avLst>
              <a:gd name="adj" fmla="val 4505"/>
            </a:avLst>
          </a:prstGeom>
          <a:solidFill>
            <a:srgbClr val="4A3010"/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" y="2862072"/>
            <a:ext cx="3986784" cy="384048"/>
          </a:xfrm>
          <a:prstGeom prst="roundRect">
            <a:avLst>
              <a:gd name="adj" fmla="val 11905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862072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NG原因分析の役割分担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" y="3319272"/>
            <a:ext cx="3877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ローカル分析エンジンが「何が起きているか」の事実処理を担い、クラウドAIが「なぜ起きているか」の原因推論・対処提案・対話を担う。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770632"/>
            <a:ext cx="4206240" cy="2029968"/>
          </a:xfrm>
          <a:prstGeom prst="roundRect">
            <a:avLst>
              <a:gd name="adj" fmla="val 4505"/>
            </a:avLst>
          </a:prstGeom>
          <a:solidFill>
            <a:srgbClr val="1A3810"/>
          </a:solidFill>
          <a:ln w="19050">
            <a:solidFill>
              <a:srgbClr val="63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888" y="2862072"/>
            <a:ext cx="3986784" cy="384048"/>
          </a:xfrm>
          <a:prstGeom prst="roundRect">
            <a:avLst>
              <a:gd name="adj" fmla="val 11905"/>
            </a:avLst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862072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既存システムへの影響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319272"/>
            <a:ext cx="3877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VSシステム本体・VS Creator・ユーザーアプリへの変更は不要。MCPサーバーとデスクトップアプリを新規追加するだけで導入可能。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390</Words>
  <Application>Microsoft Office PowerPoint</Application>
  <PresentationFormat>画面に合わせる (16:9)</PresentationFormat>
  <Paragraphs>91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真樹 石田</cp:lastModifiedBy>
  <cp:revision>2</cp:revision>
  <dcterms:created xsi:type="dcterms:W3CDTF">2026-07-11T15:25:32Z</dcterms:created>
  <dcterms:modified xsi:type="dcterms:W3CDTF">2026-07-13T22:11:29Z</dcterms:modified>
</cp:coreProperties>
</file>